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through getting one year of hourly ERA5 data for a site from the Climate Data Store website. At the end students have a GRIB file that the era5_to_csv notebook turns into a CSV or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needs their own free account. Registration asks for an email confirmation, so students should do this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the link directly. Searching the site lists a similar dataset called ERA5 hourly time-series data first, which is the wrong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 needs exactly four variables. These two are in the Popular group; the two wind variables are in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100 m components, not the 10 m ones. The notebook computes wind speed and direction from these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year per request keeps the download to about 30 minutes. A second year means a second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24 hours give one row per hour in the CSV: 8760 rows for a normal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refuses a box where North equals South or West equals East, so a single point is not possible here. The notebook’s one csv option uses the first point in the file, which is the North-West corner of the box. Use multiples of 0.25 so the corners sit on the ERA5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GRIB and Unarchived are usually selected already. The licence only needs accepting once per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Processing time depends on how many hours are requested, not on the size of the area. Students can close the page; the request keeps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file gets a random name such as adbd3f97…grib. Students can keep that name or rename it; either way they paste the name into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one-page summary students can keep open while filling in the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csv writes the first grid point in the file (the North-West corner of the box). many csv writes one file per grid point, and excel puts each point on its own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3792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89761"/>
            <a:ext cx="10566400" cy="415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3792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89761"/>
            <a:ext cx="10566400" cy="415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ds.climate.copernicus.eu/datasets/reanalysis-era5-single-levels?tab=download" TargetMode="External"/><Relationship Id="rId2" Type="http://schemas.openxmlformats.org/officeDocument/2006/relationships/hyperlink" Target="https://cds.climate.copernicus.eu/datasets/reanalysis-era5-single-levels?tab=download" TargetMode="External"/><Relationship Id="rId3" Type="http://schemas.openxmlformats.org/officeDocument/2006/relationships/hyperlink" Target="https://cds.climate.copernicus.eu/datasets/reanalysis-era5-single-levels?tab=download" TargetMode="External"/><Relationship Id="rId4" Type="http://schemas.openxmlformats.org/officeDocument/2006/relationships/hyperlink" Target="https://cds.climate.copernicus.eu/datasets/reanalysis-era5-single-levels?tab=download" TargetMode="External"/><Relationship Id="rId5" Type="http://schemas.openxmlformats.org/officeDocument/2006/relationships/image" Target="../media/image-3-1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3233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0A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RESOURCE DATA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35250"/>
            <a:ext cx="915670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Downloading ERA5 wind data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382770"/>
            <a:ext cx="85026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Climate Data Store to a CSV file you can use, in ten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or register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0"/>
            <a:ext cx="34010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- Register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top right.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921000"/>
            <a:ext cx="34010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 not have an account, register by Clicking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new user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9600" y="1889760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7" name="Image 0" descr="ECMWF login page with username and password fields and a Register new user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418" y="1896110"/>
            <a:ext cx="6399965" cy="30416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22775" y="1892935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download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1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this link: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52039"/>
            <a:ext cx="3302000" cy="1244600"/>
          </a:xfrm>
          <a:prstGeom prst="roundRect">
            <a:avLst>
              <a:gd name="adj" fmla="val 4082"/>
            </a:avLst>
          </a:prstGeom>
          <a:solidFill>
            <a:srgbClr val="E9E5DC"/>
          </a:solidFill>
          <a:ln/>
        </p:spPr>
        <p:txBody>
          <a:bodyPr wrap="square" lIns="112121" tIns="112121" rIns="20681" bIns="86721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u="sng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cds.climate.copernicus.eu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u="sng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/datasets/reanalysis-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u="sng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era5-single-levels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u="sng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?tab=download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774439"/>
            <a:ext cx="34010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should say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hourly data on single levels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the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 open.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19600" y="1889761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8" name="Image 0" descr="ERA5 hourly data on single levels page with the Download tab selected">    </p:cNvPr>
          <p:cNvPicPr>
            <a:picLocks noChangeAspect="1"/>
          </p:cNvPicPr>
          <p:nvPr/>
        </p:nvPicPr>
        <p:blipFill>
          <a:blip r:embed="rId5"/>
          <a:srcRect l="-110" r="-110" t="0" b="0"/>
          <a:stretch/>
        </p:blipFill>
        <p:spPr>
          <a:xfrm>
            <a:off x="4425950" y="1896111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4422775" y="1892936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type and two variables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1"/>
            <a:ext cx="3401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type: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Reanalysis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ticked already.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36520"/>
            <a:ext cx="34010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temperature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pressure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9600" y="1889761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7" name="Image 0" descr="Download form with Reanalysis, 2m temperature and Surface pressure ticked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11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1892936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at 100 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1"/>
            <a:ext cx="3606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further down.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52039"/>
            <a:ext cx="3401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 u-component of wind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 v-component of wind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098800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makes four variables in total.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19600" y="1889761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8" name="Image 0" descr="Wind group with 100m u-component and 100m v-component of wind ticked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11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4422775" y="1892936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year, every month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1"/>
            <a:ext cx="3401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Year: tick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 example 2025.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36521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Month: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all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9600" y="1889761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7" name="Image 0" descr="Year 2025 ticked and all twelve months selected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11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1892936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day, every hour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1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Day: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all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52039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all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814321"/>
            <a:ext cx="3401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that do not exist, such as 31 February, are skipped.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19600" y="1889761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8" name="Image 0" descr="All days and all 24 hours selected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11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4422775" y="1892936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area of your site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61"/>
            <a:ext cx="340106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selection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Type the edges of a small box around your site, or hold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drag on the map. For example: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180079"/>
            <a:ext cx="3302000" cy="1397000"/>
          </a:xfrm>
          <a:prstGeom prst="roundRect">
            <a:avLst>
              <a:gd name="adj" fmla="val 3636"/>
            </a:avLst>
          </a:prstGeom>
          <a:solidFill>
            <a:srgbClr val="E9E5DC"/>
          </a:solidFill>
          <a:ln/>
        </p:spPr>
        <p:txBody>
          <a:bodyPr wrap="square" lIns="112121" tIns="112121" rIns="20681" bIns="86721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North 55.25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South 55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West  10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East  10.25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729479"/>
            <a:ext cx="34010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box 0.25° tall and wide. ERA5 has a point every 0.25°, so it holds 4 points.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9600" y="1889761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8" name="Image 0" descr="Area selection with North 55.25, South 55, West 10 and East 10.25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11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4422775" y="1892936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GRIB, unarchived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58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format: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GRIB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52042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format: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Unarchived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814321"/>
            <a:ext cx="34010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use: the first time,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terms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After that it says Accepted.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19600" y="1889758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8" name="Image 0" descr="GRIB and Unarchived selected, terms of use accepted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08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4422775" y="1892933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request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58"/>
            <a:ext cx="3401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to the bottom and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form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36521"/>
            <a:ext cx="340106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waits in a queue. One year takes about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even for a small box.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9600" y="1889758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7" name="Image 0" descr="Submit form button at the bottom of the download form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08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1892933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B5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 OF 10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79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89758"/>
            <a:ext cx="3606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requests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top right.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352042"/>
            <a:ext cx="3401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status says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click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098800"/>
            <a:ext cx="34010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</a:t>
            </a:r>
            <a:r>
              <a:rPr lang="en-US" sz="1600" b="1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.grib</a:t>
            </a:r>
            <a:r>
              <a:rPr lang="en-US" sz="1600" dirty="0">
                <a:solidFill>
                  <a:srgbClr val="465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of about 4 MB.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19600" y="1889758"/>
            <a:ext cx="6959600" cy="3054350"/>
          </a:xfrm>
          <a:prstGeom prst="roundRect">
            <a:avLst>
              <a:gd name="adj" fmla="val 2495"/>
            </a:avLst>
          </a:prstGeom>
          <a:solidFill>
            <a:srgbClr val="E9E5DC"/>
          </a:solidFill>
          <a:ln/>
        </p:spPr>
      </p:sp>
      <p:pic>
        <p:nvPicPr>
          <p:cNvPr id="8" name="Image 0" descr="Your requests page with a successful request and a green Download button">    </p:cNvPr>
          <p:cNvPicPr>
            <a:picLocks noChangeAspect="1"/>
          </p:cNvPicPr>
          <p:nvPr/>
        </p:nvPicPr>
        <p:blipFill>
          <a:blip r:embed="rId1"/>
          <a:srcRect l="-110" r="-110" t="0" b="0"/>
          <a:stretch/>
        </p:blipFill>
        <p:spPr>
          <a:xfrm>
            <a:off x="4425950" y="1896108"/>
            <a:ext cx="6946900" cy="3041650"/>
          </a:xfrm>
          <a:prstGeom prst="roundRect">
            <a:avLst>
              <a:gd name="adj" fmla="val 2296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4422775" y="1892933"/>
            <a:ext cx="6953250" cy="3048000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D6D1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for the form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802"/>
          <a:ext cx="10556240" cy="3548380"/>
        </p:xfrm>
        <a:graphic>
          <a:graphicData uri="http://schemas.openxmlformats.org/drawingml/2006/table">
            <a:tbl>
              <a:tblPr/>
              <a:tblGrid>
                <a:gridCol w="3377997"/>
                <a:gridCol w="7178243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4CC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type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Reanalysis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AA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2m temperature, Surface pressure, 100m u-component of wind, 100m v-component of wind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year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Month, Day,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all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Geographical 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selection, a 0.25° box around your site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format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format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23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Unarchived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cds.climate.copernicus.eu/datasets/reanalysis-era5-single-levels?tab=download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13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0A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765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notebook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694" y="3335021"/>
            <a:ext cx="9803236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106" indent="-25410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.grib file in the same folder as era5_to_csv.ipynb.</a:t>
            </a:r>
            <a:endParaRPr lang="en-US" sz="1800" dirty="0"/>
          </a:p>
          <a:p>
            <a:pPr algn="l" marL="254106" indent="-25410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file name into GRIB_FILE.</a:t>
            </a:r>
            <a:endParaRPr lang="en-US" sz="1800" dirty="0"/>
          </a:p>
          <a:p>
            <a:pPr algn="l" marL="254106" indent="-25410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OUTPUT_TYPE: "one csv", "many csv" or "excel".</a:t>
            </a:r>
            <a:endParaRPr lang="en-US" sz="1800" dirty="0"/>
          </a:p>
          <a:p>
            <a:pPr algn="l" marL="254106" indent="-25410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cells. The result is in the output folder.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wnloading ERA5 Wind Data">
  <a:themeElements>
    <a:clrScheme name="Downloading ERA5 Wind Data">
      <a:dk1>
        <a:srgbClr val="15233B"/>
      </a:dk1>
      <a:lt1>
        <a:srgbClr val="F6F4EF"/>
      </a:lt1>
      <a:dk2>
        <a:srgbClr val="4D5768"/>
      </a:dk2>
      <a:lt2>
        <a:srgbClr val="E0DFDD"/>
      </a:lt2>
      <a:accent1>
        <a:srgbClr val="B5402A"/>
      </a:accent1>
      <a:accent2>
        <a:srgbClr val="F0A27F"/>
      </a:accent2>
      <a:accent3>
        <a:srgbClr val="46505E"/>
      </a:accent3>
      <a:accent4>
        <a:srgbClr val="6B7280"/>
      </a:accent4>
      <a:accent5>
        <a:srgbClr val="C9D2DE"/>
      </a:accent5>
      <a:accent6>
        <a:srgbClr val="8E9AAD"/>
      </a:accent6>
      <a:hlink>
        <a:srgbClr val="0563C1"/>
      </a:hlink>
      <a:folHlink>
        <a:srgbClr val="954F72"/>
      </a:folHlink>
    </a:clrScheme>
    <a:fontScheme name="Downloading ERA5 Wind Da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Downloading ERA5 Wind Data</dc:title>
  <dc:subject/>
  <dc:creator/>
  <cp:lastModifiedBy/>
  <cp:revision>1</cp:revision>
  <dcterms:created xsi:type="dcterms:W3CDTF">2026-10-26T23:01:44Z</dcterms:created>
  <dcterms:modified xsi:type="dcterms:W3CDTF">2026-10-26T23:01:44Z</dcterms:modified>
</cp:coreProperties>
</file>